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jCmmIOIQ/SuX0NuScl++aZWoyu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INTRODUCING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100584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Social AI Assistant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2194560"/>
            <a:ext cx="7772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A unified AI-powered inbox for Shop Zetu — handles customer DMs across every social channel, with humans stepping in when it matters.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39319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8B9E"/>
                </a:solidFill>
                <a:latin typeface="Calibri"/>
                <a:ea typeface="Calibri"/>
                <a:cs typeface="Calibri"/>
                <a:sym typeface="Calibri"/>
              </a:rPr>
              <a:t>WORKS ACROSS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4343400"/>
            <a:ext cx="1783080" cy="777240"/>
          </a:xfrm>
          <a:prstGeom prst="roundRect">
            <a:avLst>
              <a:gd fmla="val 11765" name="adj"/>
            </a:avLst>
          </a:prstGeom>
          <a:solidFill>
            <a:srgbClr val="FAFAFA"/>
          </a:solidFill>
          <a:ln cap="flat" cmpd="sng" w="12700">
            <a:solidFill>
              <a:srgbClr val="EEEE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45262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1280160" y="448056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Instagram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514600" y="4343400"/>
            <a:ext cx="1783080" cy="777240"/>
          </a:xfrm>
          <a:prstGeom prst="roundRect">
            <a:avLst>
              <a:gd fmla="val 11765" name="adj"/>
            </a:avLst>
          </a:prstGeom>
          <a:solidFill>
            <a:srgbClr val="FAFAFA"/>
          </a:solidFill>
          <a:ln cap="flat" cmpd="sng" w="12700">
            <a:solidFill>
              <a:srgbClr val="EEEE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" name="Google Shape;2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0" y="45262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/>
          <p:nvPr/>
        </p:nvSpPr>
        <p:spPr>
          <a:xfrm>
            <a:off x="3246120" y="448056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WhatsApp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480560" y="4343400"/>
            <a:ext cx="1783080" cy="777240"/>
          </a:xfrm>
          <a:prstGeom prst="roundRect">
            <a:avLst>
              <a:gd fmla="val 11765" name="adj"/>
            </a:avLst>
          </a:prstGeom>
          <a:solidFill>
            <a:srgbClr val="FAFAFA"/>
          </a:solidFill>
          <a:ln cap="flat" cmpd="sng" w="12700">
            <a:solidFill>
              <a:srgbClr val="EEEE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" name="Google Shape;2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9160" y="45262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/>
          <p:nvPr/>
        </p:nvSpPr>
        <p:spPr>
          <a:xfrm>
            <a:off x="5212080" y="448056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Facebook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446520" y="4343400"/>
            <a:ext cx="1783080" cy="777240"/>
          </a:xfrm>
          <a:prstGeom prst="roundRect">
            <a:avLst>
              <a:gd fmla="val 11765" name="adj"/>
            </a:avLst>
          </a:prstGeom>
          <a:solidFill>
            <a:srgbClr val="FAFAFA"/>
          </a:solidFill>
          <a:ln cap="flat" cmpd="sng" w="12700">
            <a:solidFill>
              <a:srgbClr val="EEEE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" name="Google Shape;3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5120" y="45262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"/>
          <p:cNvSpPr/>
          <p:nvPr/>
        </p:nvSpPr>
        <p:spPr>
          <a:xfrm>
            <a:off x="7178040" y="448056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TikTok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8961120" y="1005840"/>
            <a:ext cx="2743200" cy="5029200"/>
          </a:xfrm>
          <a:prstGeom prst="roundRect">
            <a:avLst>
              <a:gd fmla="val 5000" name="adj"/>
            </a:avLst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9098280" y="137160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INBOX.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9098280" y="1828800"/>
            <a:ext cx="24688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0"/>
              <a:buFont typeface="Cambria"/>
              <a:buNone/>
            </a:pPr>
            <a:r>
              <a:rPr b="1" i="0" lang="en-US" sz="20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9098280" y="429768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CHANNELS,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FULLY HANDLED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9098280" y="521208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replies. Humans take over. Shopify-aware.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B9E"/>
                </a:solidFill>
                <a:latin typeface="Calibri"/>
                <a:ea typeface="Calibri"/>
                <a:cs typeface="Calibri"/>
                <a:sym typeface="Calibri"/>
              </a:rPr>
              <a:t>Social AI Assistant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B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B9E"/>
                </a:solidFill>
                <a:latin typeface="Calibri"/>
                <a:ea typeface="Calibri"/>
                <a:cs typeface="Calibri"/>
                <a:sym typeface="Calibri"/>
              </a:rPr>
              <a:t>1 /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"/>
          <p:cNvSpPr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01 — 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48640" y="100584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Customers ask. Agents drown.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Shop Zetu receives hundreds of DMs and comments across Instagram, WhatsApp, Facebook, and TikTok every day. Each one is handled manually.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48640" y="2697480"/>
            <a:ext cx="5486400" cy="1691640"/>
          </a:xfrm>
          <a:prstGeom prst="roundRect">
            <a:avLst>
              <a:gd fmla="val 6486" name="adj"/>
            </a:avLst>
          </a:prstGeom>
          <a:solidFill>
            <a:srgbClr val="FAFAFA"/>
          </a:solidFill>
          <a:ln cap="flat" cmpd="sng" w="12700">
            <a:solidFill>
              <a:srgbClr val="EEEEF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30175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/>
          <p:nvPr/>
        </p:nvSpPr>
        <p:spPr>
          <a:xfrm>
            <a:off x="1600200" y="297180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Slow response times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600200" y="342900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Customers wait hours for simple replies — 'Is this in stock?', 'How much is delivery?', 'Where's my order?' — and many move on before getting one.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217920" y="2697480"/>
            <a:ext cx="5486400" cy="1691640"/>
          </a:xfrm>
          <a:prstGeom prst="roundRect">
            <a:avLst>
              <a:gd fmla="val 6486" name="adj"/>
            </a:avLst>
          </a:prstGeom>
          <a:solidFill>
            <a:srgbClr val="FAFAFA"/>
          </a:solidFill>
          <a:ln cap="flat" cmpd="sng" w="12700">
            <a:solidFill>
              <a:srgbClr val="EEEEF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60" y="30175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/>
          <p:nvPr/>
        </p:nvSpPr>
        <p:spPr>
          <a:xfrm>
            <a:off x="7269480" y="297180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Fragmented inbox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7269480" y="342900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Multiple </a:t>
            </a:r>
            <a:r>
              <a:rPr b="0" i="0" lang="en-US" sz="11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apps. Scattered </a:t>
            </a:r>
            <a:r>
              <a:rPr lang="en-US" sz="1100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1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onversations. No single view of who said what, where, or whether it's been answered.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48640" y="4526280"/>
            <a:ext cx="5486400" cy="1691640"/>
          </a:xfrm>
          <a:prstGeom prst="roundRect">
            <a:avLst>
              <a:gd fmla="val 6486" name="adj"/>
            </a:avLst>
          </a:prstGeom>
          <a:solidFill>
            <a:srgbClr val="FAFAFA"/>
          </a:solidFill>
          <a:ln cap="flat" cmpd="sng" w="12700">
            <a:solidFill>
              <a:srgbClr val="EEEEF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" y="48463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/>
          <p:nvPr/>
        </p:nvSpPr>
        <p:spPr>
          <a:xfrm>
            <a:off x="1600200" y="480060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Lost sales &amp; escalations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600200" y="525780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Out-of-stock questions go unanswered. Complaints sit unread until they become public. Refund requests slip through the cracks.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217920" y="4526280"/>
            <a:ext cx="5486400" cy="1691640"/>
          </a:xfrm>
          <a:prstGeom prst="roundRect">
            <a:avLst>
              <a:gd fmla="val 6486" name="adj"/>
            </a:avLst>
          </a:prstGeom>
          <a:solidFill>
            <a:srgbClr val="FAFAFA"/>
          </a:solidFill>
          <a:ln cap="flat" cmpd="sng" w="12700">
            <a:solidFill>
              <a:srgbClr val="EEEEF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7960" y="48463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/>
          <p:nvPr/>
        </p:nvSpPr>
        <p:spPr>
          <a:xfrm>
            <a:off x="7269480" y="480060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Improve </a:t>
            </a:r>
            <a:r>
              <a:rPr b="1" i="0" lang="en-US" sz="17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visibility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7269480" y="525780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r>
              <a:rPr b="0" i="0" lang="en-US" sz="11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 measure response time, intent breakdown, channel performance, or which conversations need a human's attention right now.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B9E"/>
                </a:solidFill>
                <a:latin typeface="Calibri"/>
                <a:ea typeface="Calibri"/>
                <a:cs typeface="Calibri"/>
                <a:sym typeface="Calibri"/>
              </a:rPr>
              <a:t>Social AI Assistant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B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B9E"/>
                </a:solidFill>
                <a:latin typeface="Calibri"/>
                <a:ea typeface="Calibri"/>
                <a:cs typeface="Calibri"/>
                <a:sym typeface="Calibri"/>
              </a:rPr>
              <a:t>2 /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02 — THE SOLUTION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48640" y="1005840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One AI-powered inbox.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48640" y="17373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800"/>
              <a:buFont typeface="Cambria"/>
              <a:buNone/>
            </a:pPr>
            <a:r>
              <a:rPr b="0" i="1" lang="en-US" sz="2800" u="none" cap="none" strike="noStrike">
                <a:solidFill>
                  <a:srgbClr val="E63946"/>
                </a:solidFill>
                <a:latin typeface="Cambria"/>
                <a:ea typeface="Cambria"/>
                <a:cs typeface="Cambria"/>
                <a:sym typeface="Cambria"/>
              </a:rPr>
              <a:t>Built for Shop Zetu.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48640" y="2743200"/>
            <a:ext cx="640080" cy="64008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32" y="29077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"/>
          <p:cNvSpPr/>
          <p:nvPr/>
        </p:nvSpPr>
        <p:spPr>
          <a:xfrm>
            <a:off x="1371600" y="2761488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Claude handles the common questions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71600" y="315468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Greetings, stock checks, prices, delivery info, order status — answered instantly in our brand voice, day or night.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48640" y="3657600"/>
            <a:ext cx="640080" cy="64008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232" y="38221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1371600" y="3675888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Shopify-aware in real time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71600" y="406908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AI pulls live product, stock, and order data from your store — never invents prices or fakes stock levels.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48640" y="4572000"/>
            <a:ext cx="640080" cy="64008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232" y="47365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/>
          <p:nvPr/>
        </p:nvSpPr>
        <p:spPr>
          <a:xfrm>
            <a:off x="1371600" y="4590288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Smart human handoff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71600" y="498348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Refunds, complaints, or sensitive cases trigger automatic escalation — a human agent is auto-assigned and notified.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48640" y="5486400"/>
            <a:ext cx="640080" cy="64008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3232" y="56509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1371600" y="5504688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Full agent control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71600" y="589788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6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Toggle AI off per conversation. Reply manually. Reassign. Every action is logged and audit-ready.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B9E"/>
                </a:solidFill>
                <a:latin typeface="Calibri"/>
                <a:ea typeface="Calibri"/>
                <a:cs typeface="Calibri"/>
                <a:sym typeface="Calibri"/>
              </a:rPr>
              <a:t>Social AI Assistant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B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B9E"/>
                </a:solidFill>
                <a:latin typeface="Calibri"/>
                <a:ea typeface="Calibri"/>
                <a:cs typeface="Calibri"/>
                <a:sym typeface="Calibri"/>
              </a:rPr>
              <a:t>3 /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03 — WHERE WE 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48640" y="100584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Live and working today.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48640" y="2194560"/>
            <a:ext cx="5486400" cy="4023360"/>
          </a:xfrm>
          <a:prstGeom prst="roundRect">
            <a:avLst>
              <a:gd fmla="val 2727" name="adj"/>
            </a:avLst>
          </a:prstGeom>
          <a:solidFill>
            <a:srgbClr val="FAFAFA"/>
          </a:solidFill>
          <a:ln cap="flat" cmpd="sng" w="12700">
            <a:solidFill>
              <a:srgbClr val="EEE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24688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4"/>
          <p:cNvSpPr/>
          <p:nvPr/>
        </p:nvSpPr>
        <p:spPr>
          <a:xfrm>
            <a:off x="1325880" y="24688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SHIPPED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310896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/>
          <p:nvPr/>
        </p:nvSpPr>
        <p:spPr>
          <a:xfrm>
            <a:off x="1143000" y="30632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Live Instagram DM pipeline — real customer DMs flow into the platform within seconds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" name="Google Shape;1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361188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/>
          <p:nvPr/>
        </p:nvSpPr>
        <p:spPr>
          <a:xfrm>
            <a:off x="1143000" y="35661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Claude-powered mock replies in brand with multi-intent detection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4114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/>
          <p:nvPr/>
        </p:nvSpPr>
        <p:spPr>
          <a:xfrm>
            <a:off x="1143000" y="406908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Shopify integration: real-time product, stock</a:t>
            </a:r>
            <a:r>
              <a:rPr lang="en-US" sz="10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46177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1143000" y="45720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Automated handoff: refund and complaint keywords escalate to humans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51206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/>
          <p:nvPr/>
        </p:nvSpPr>
        <p:spPr>
          <a:xfrm>
            <a:off x="1143000" y="507492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Agent assignment + notification system with audit logging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562356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1143000" y="55778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Live dashboard: KPIs, channel performance, real-time activity feed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6217920" y="2194560"/>
            <a:ext cx="5486400" cy="4023360"/>
          </a:xfrm>
          <a:prstGeom prst="roundRect">
            <a:avLst>
              <a:gd fmla="val 2727" name="adj"/>
            </a:avLst>
          </a:prstGeom>
          <a:solidFill>
            <a:srgbClr val="FCE9D6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24688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/>
          <p:nvPr/>
        </p:nvSpPr>
        <p:spPr>
          <a:xfrm>
            <a:off x="6995160" y="24688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" name="Google Shape;11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310896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6812280" y="306324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Meta Advanced Access approval — required to send AI replies to any IG user (not just app testers)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8" name="Google Shape;11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37033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6812280" y="365760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WhatsApp, Facebook DM, and TikTok DM channels — backend wired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" name="Google Shape;12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429768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/>
          <p:nvPr/>
        </p:nvSpPr>
        <p:spPr>
          <a:xfrm>
            <a:off x="6812280" y="4251973"/>
            <a:ext cx="4755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Comment-reply pipeline for Instagram posts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48920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/>
          <p:nvPr/>
        </p:nvSpPr>
        <p:spPr>
          <a:xfrm>
            <a:off x="6812280" y="484632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Real Claude reasoning swapped in for the current rule-based mock replies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" name="Google Shape;12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54864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/>
          <p:nvPr/>
        </p:nvSpPr>
        <p:spPr>
          <a:xfrm>
            <a:off x="6812280" y="544068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Shopify customer and order data integration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B9E"/>
                </a:solidFill>
                <a:latin typeface="Calibri"/>
                <a:ea typeface="Calibri"/>
                <a:cs typeface="Calibri"/>
                <a:sym typeface="Calibri"/>
              </a:rPr>
              <a:t>Social AI Assistant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B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B9E"/>
                </a:solidFill>
                <a:latin typeface="Calibri"/>
                <a:ea typeface="Calibri"/>
                <a:cs typeface="Calibri"/>
                <a:sym typeface="Calibri"/>
              </a:rPr>
              <a:t>4 /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04 — NEXT 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48640" y="100584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From pilot to platform.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48640" y="18745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5D6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5C5D6"/>
                </a:solidFill>
                <a:latin typeface="Calibri"/>
                <a:ea typeface="Calibri"/>
                <a:cs typeface="Calibri"/>
                <a:sym typeface="Calibri"/>
              </a:rPr>
              <a:t>What we do in the weeks.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48640" y="2743200"/>
            <a:ext cx="3657600" cy="3291840"/>
          </a:xfrm>
          <a:prstGeom prst="roundRect">
            <a:avLst>
              <a:gd fmla="val 4167" name="adj"/>
            </a:avLst>
          </a:prstGeom>
          <a:solidFill>
            <a:srgbClr val="2A2A45"/>
          </a:solidFill>
          <a:ln>
            <a:noFill/>
          </a:ln>
          <a:effectLst>
            <a:outerShdw blurRad="177800" rotWithShape="0" algn="bl" dir="54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822960" y="297180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5600"/>
              <a:buFont typeface="Cambria"/>
              <a:buNone/>
            </a:pPr>
            <a:r>
              <a:rPr b="1" i="0" lang="en-US" sz="5600" u="none" cap="none" strike="noStrike">
                <a:solidFill>
                  <a:srgbClr val="E63946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822960" y="42519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Unblock Meta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822960" y="4754880"/>
            <a:ext cx="3200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C5D6"/>
                </a:solidFill>
                <a:latin typeface="Calibri"/>
                <a:ea typeface="Calibri"/>
                <a:cs typeface="Calibri"/>
                <a:sym typeface="Calibri"/>
              </a:rPr>
              <a:t>Submit the Meta App for review to enable Advanced Access for instagram_manage_messages.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343400" y="2743200"/>
            <a:ext cx="3657600" cy="3291840"/>
          </a:xfrm>
          <a:prstGeom prst="roundRect">
            <a:avLst>
              <a:gd fmla="val 4167" name="adj"/>
            </a:avLst>
          </a:prstGeom>
          <a:solidFill>
            <a:srgbClr val="2A2A45"/>
          </a:solidFill>
          <a:ln>
            <a:noFill/>
          </a:ln>
          <a:effectLst>
            <a:outerShdw blurRad="177800" rotWithShape="0" algn="bl" dir="54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4617720" y="297180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5600"/>
              <a:buFont typeface="Cambria"/>
              <a:buNone/>
            </a:pPr>
            <a:r>
              <a:rPr b="1" i="0" lang="en-US" sz="5600" u="none" cap="none" strike="noStrike">
                <a:solidFill>
                  <a:srgbClr val="E63946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617720" y="42519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Claude API Integration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4617720" y="4754880"/>
            <a:ext cx="3200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C5D6"/>
                </a:solidFill>
                <a:latin typeface="Calibri"/>
                <a:ea typeface="Calibri"/>
                <a:cs typeface="Calibri"/>
                <a:sym typeface="Calibri"/>
              </a:rPr>
              <a:t>Switch from mock replies to live Claude reasoning.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8138160" y="2743200"/>
            <a:ext cx="3657600" cy="3291840"/>
          </a:xfrm>
          <a:prstGeom prst="roundRect">
            <a:avLst>
              <a:gd fmla="val 4167" name="adj"/>
            </a:avLst>
          </a:prstGeom>
          <a:solidFill>
            <a:srgbClr val="2A2A45"/>
          </a:solidFill>
          <a:ln>
            <a:noFill/>
          </a:ln>
          <a:effectLst>
            <a:outerShdw blurRad="177800" rotWithShape="0" algn="bl" dir="54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8412480" y="297180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5600"/>
              <a:buFont typeface="Cambria"/>
              <a:buNone/>
            </a:pPr>
            <a:r>
              <a:rPr b="1" i="0" lang="en-US" sz="5600" u="none" cap="none" strike="noStrike">
                <a:solidFill>
                  <a:srgbClr val="E63946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8412480" y="42519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Scale &amp; measure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8412480" y="4754880"/>
            <a:ext cx="3200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5C5D6"/>
                </a:solidFill>
                <a:latin typeface="Calibri"/>
                <a:ea typeface="Calibri"/>
                <a:cs typeface="Calibri"/>
                <a:sym typeface="Calibri"/>
              </a:rPr>
              <a:t>Add WhatsApp + Facebook + TikTok to the active rotation.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Social AI Assistant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5"/>
                </a:solidFill>
                <a:latin typeface="Calibri"/>
                <a:ea typeface="Calibri"/>
                <a:cs typeface="Calibri"/>
                <a:sym typeface="Calibri"/>
              </a:rPr>
              <a:t>5 /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2026-06-17T05:57:13Z</dcterms:created>
  <dc:creator>Shop Zetu</dc:creator>
</cp:coreProperties>
</file>